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ayfair Display" panose="00000500000000000000" pitchFamily="2" charset="0"/>
      <p:regular r:id="rId16"/>
      <p:bold r:id="rId17"/>
      <p:italic r:id="rId18"/>
      <p:boldItalic r:id="rId19"/>
    </p:embeddedFont>
    <p:embeddedFont>
      <p:font typeface="Playfair Display SemiBold" panose="020B0604020202020204" charset="0"/>
      <p:regular r:id="rId20"/>
      <p:bold r:id="rId21"/>
      <p:italic r:id="rId22"/>
      <p:boldItalic r:id="rId23"/>
    </p:embeddedFont>
    <p:embeddedFont>
      <p:font typeface="Plus Jakarta Sans" panose="020B0604020202020204" charset="0"/>
      <p:regular r:id="rId24"/>
      <p:bold r:id="rId25"/>
      <p:italic r:id="rId26"/>
      <p:boldItalic r:id="rId27"/>
    </p:embeddedFont>
    <p:embeddedFont>
      <p:font typeface="Plus Jakarta Sans Light" panose="020B0604020202020204" charset="0"/>
      <p:regular r:id="rId28"/>
      <p:bold r:id="rId29"/>
      <p:italic r:id="rId30"/>
      <p:boldItalic r:id="rId31"/>
    </p:embeddedFont>
    <p:embeddedFont>
      <p:font typeface="Plus Jakarta Sans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B1651-91AD-4449-AED6-70A5A8156532}">
  <a:tblStyle styleId="{A6DB1651-91AD-4449-AED6-70A5A81565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81487" y="1646932"/>
            <a:ext cx="36290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CLASS 11 ENGLISH • HORNBILL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46822" y="2266057"/>
            <a:ext cx="6898205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We're Not Afraid to Die...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1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if we can all be together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46822" y="5211663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gripping real-life chronicle of human endurance, unyielding courage, and family solidarity against the violent storms of the Southern Indian Ocean.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980533" y="5039617"/>
            <a:ext cx="223078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GORDON COOK &amp; ALAN EAST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50731" y="2890837"/>
            <a:ext cx="4290536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I: Setting Sail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238500" y="3675608"/>
            <a:ext cx="5715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Retracing history, building dreams, and planning the ultimate voyage across uncharted global waters.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6419850"/>
            <a:ext cx="184025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WE'RE NOT AFRAID TO DIE...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940355" y="6419850"/>
            <a:ext cx="4801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5452"/>
            <a:ext cx="50863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71525" y="6419850"/>
            <a:ext cx="174887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VESSEL &amp; THE VOYAGE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940355" y="6419850"/>
            <a:ext cx="4801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3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71525" y="2175718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over years of relentless preparation to face the harshest ocean currents on earth.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964977"/>
            <a:ext cx="50673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104900" y="2962423"/>
            <a:ext cx="4752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Sleek Architecture: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23-meter, 30-ton wooden-hulled beauty.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04900" y="3377654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Rigorous Testing: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Built professionally and tested for months in the roughest weather.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04900" y="4036665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Mission: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Retracing Captain James Cook’s legendary 200-year-old round-the-world voyage.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04900" y="4695676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First Leg: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peaceful 105,000 km journey sailing down the African Coast to Cape Town.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995761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41099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0700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4729013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Wavewalker: The Vessel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18444"/>
            <a:ext cx="10648950" cy="332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71525" y="1884164"/>
            <a:ext cx="10648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Six brave individuals set out together from Cape Town, preparing to enter the turbulent Southern Indian Ocean.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71525" y="6419850"/>
            <a:ext cx="9182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MANIFEST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930830" y="6419850"/>
            <a:ext cx="48964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4</a:t>
            </a:r>
            <a:endParaRPr/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781050" y="2327969"/>
          <a:ext cx="10629900" cy="3308550"/>
        </p:xfrm>
        <a:graphic>
          <a:graphicData uri="http://schemas.openxmlformats.org/drawingml/2006/table">
            <a:tbl>
              <a:tblPr firstRow="1" bandRow="1">
                <a:noFill/>
                <a:tableStyleId>{A6DB1651-91AD-4449-AED6-70A5A8156532}</a:tableStyleId>
              </a:tblPr>
              <a:tblGrid>
                <a:gridCol w="215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8BDF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8BDF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7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8BDF8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Profile &amp; Key Traits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Gordon Cook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Narrator &amp; Captain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37-year-old businessman; highly skilled, resilient, and dedicated father.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Mary Cook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Supportive Wife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Her calm presence kept morale high; steered the wheel during critical crises.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Suzanne &amp; Jonathan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 Children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Ages 7 and 6. Exhibited extraordinary bravery and calmness beyond their years.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Larry Vigil (American)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Hired Crewman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Invaluable, hardworking sailor; pumped freezing water nonstop for hours.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Herb Seigler (Swiss)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Hired Crewman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Quiet, immensely professional; helped steady the boat during high seas.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70E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Google Shape;131;p16"/>
          <p:cNvSpPr/>
          <p:nvPr/>
        </p:nvSpPr>
        <p:spPr>
          <a:xfrm>
            <a:off x="781050" y="2841277"/>
            <a:ext cx="21563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937420" y="2841277"/>
            <a:ext cx="191229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849713" y="2841277"/>
            <a:ext cx="656123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81050" y="3399383"/>
            <a:ext cx="21563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937420" y="3399383"/>
            <a:ext cx="191229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849713" y="3399383"/>
            <a:ext cx="656123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81050" y="3957488"/>
            <a:ext cx="21563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937420" y="3957488"/>
            <a:ext cx="191229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849713" y="3957488"/>
            <a:ext cx="656123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81050" y="4515594"/>
            <a:ext cx="21563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937420" y="4515594"/>
            <a:ext cx="191229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849713" y="4515594"/>
            <a:ext cx="656123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81050" y="5073699"/>
            <a:ext cx="215637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937420" y="5073699"/>
            <a:ext cx="191229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849713" y="5073699"/>
            <a:ext cx="656123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Manifest: Voyagers &amp; Crew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635567" y="2890837"/>
            <a:ext cx="6920865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43F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II: The Storm Unleashed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238500" y="3675608"/>
            <a:ext cx="5715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roaring disaster strikes in the Southern Indian Ocean on the fateful second of January.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71525" y="6419850"/>
            <a:ext cx="184025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WE'RE NOT AFRAID TO DIE...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940355" y="6419850"/>
            <a:ext cx="4801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62025" y="581025"/>
            <a:ext cx="514064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Monstrous Wave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3600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71525" y="1253430"/>
            <a:ext cx="534066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January 2nd: Disaster Strikes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1670595"/>
            <a:ext cx="50863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dawn, waves grew to a terrifying scale. At 6 PM, an ominous silence preceded a colossal, vertical wave towering twice the size of standard sea swells.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71525" y="2497187"/>
            <a:ext cx="50863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43F5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Impact: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2740967"/>
            <a:ext cx="50863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tremendous explosion shook the deck. Water gushed everywhere. The narrator was thrown overboard, facing near-death, before being tossed back on board with cracked ribs and broken teeth.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69827"/>
            <a:ext cx="425946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71525" y="6419850"/>
            <a:ext cx="138692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FURY OF NATURE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940355" y="6419850"/>
            <a:ext cx="4801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7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991617" y="3060352"/>
            <a:ext cx="181927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F43F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15m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724917" y="4250977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HEIGHT OF SEA SWELLS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411985" y="2605236"/>
            <a:ext cx="670880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Matching the Main Mast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411985" y="3068091"/>
            <a:ext cx="638934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wind was roaring like a freight train, and massive waves constantly threatened the structural integrity of </a:t>
            </a:r>
            <a:r>
              <a:rPr lang="en-US" sz="1350" b="0" i="1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Wavewalker</a:t>
            </a: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411985" y="3807172"/>
            <a:ext cx="63893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protect the ship, the crew dropped the storm jib, secured everything with a heavy nylon rope across the stern, and performed life-raft drills.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411985" y="4437608"/>
            <a:ext cx="638934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soul on board wore oilskins and life jackets, expecting the final death blow at any minute.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Fury of Nature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448817"/>
            <a:ext cx="3397299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448817"/>
            <a:ext cx="3397299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3324" y="2448817"/>
            <a:ext cx="3397299" cy="263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71525" y="6419850"/>
            <a:ext cx="125923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SURVIVAL EFFORTS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0930830" y="6419850"/>
            <a:ext cx="48964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8</a:t>
            </a:r>
            <a:endParaRPr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6800" y="274409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066800" y="3506092"/>
            <a:ext cx="1570196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Pumping Water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066800" y="3871763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Larry Vigil and Herb Seigler pumped freezing sea water out of the flooded cabins continuously like madmen, keeping hope afloat.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74409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692699" y="3506092"/>
            <a:ext cx="186023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Structural Repairs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692699" y="3871763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Gordon Cook stretched canvas and secured waterproof hatch covers over the gaping holes on the starboard side to repel water.</a:t>
            </a:r>
            <a:endParaRPr/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8599" y="274409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8318599" y="3506092"/>
            <a:ext cx="191023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Navigation &amp; Math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318599" y="3871763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crew worked out complex wind drift and course charts to pinpoint small pinpricks of islands in the massive 150,000 km sea.</a:t>
            </a:r>
            <a:endParaRPr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00150" y="287744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6999" y="287744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51949" y="287744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Battle For Survival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3025616" y="2890837"/>
            <a:ext cx="6140767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0B98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 III: Triumph of Hope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3238500" y="3675608"/>
            <a:ext cx="5715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child's words pierce through darkness, rekindling a family's sheer will to survive.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71525" y="6419850"/>
            <a:ext cx="184025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WE'RE NOT AFRAID TO DIE...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940355" y="6419850"/>
            <a:ext cx="4801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71525" y="6419850"/>
            <a:ext cx="13087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TURNING POINT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0871745" y="6419850"/>
            <a:ext cx="54872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10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570136" y="2666107"/>
            <a:ext cx="9051577" cy="90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1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"Daddy, we aren't afraid of dying if we can all be together — you and Mummy, Sue and I." 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570136" y="3810892"/>
            <a:ext cx="90515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— Jonathan Cook (6 Years Old)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2523976" y="4315717"/>
            <a:ext cx="7143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These golden words instantly dispelled the narrator’s exhaustion, renewing his fierce determination to fight back against the sea with every tool left on the ship.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1189136" y="2189857"/>
            <a:ext cx="635793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Unshakeable Childhood Courage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5452"/>
            <a:ext cx="50863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771525" y="6419850"/>
            <a:ext cx="113168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RESOLUTION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919370" y="6419850"/>
            <a:ext cx="50110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11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71525" y="2190898"/>
            <a:ext cx="5086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 Volcanic Pinprick in the Ocean</a:t>
            </a:r>
            <a:endParaRPr/>
          </a:p>
        </p:txBody>
      </p:sp>
      <p:pic>
        <p:nvPicPr>
          <p:cNvPr id="246" name="Google Shape;24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964977"/>
            <a:ext cx="50673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1104900" y="2703314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Spotting: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Around 4 PM, Sue and Jon ran to hug their father—they had spotted the island!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104900" y="3362325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Island: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Ile Amsterdam, a small, stark French scientific base of volcanic rock.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1104900" y="4021335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Warm Welcome: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Welcomed and anchored safely off-shore with the help of 28 native inhabitants.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1104900" y="4680346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Victory: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Their endurance transformed a near-fatal shipwreck into a triumph of family spirit.</a:t>
            </a:r>
            <a:endParaRPr/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736651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3956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054673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4713684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Destination: Ile Amsterdam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293715"/>
            <a:ext cx="3714750" cy="135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293715"/>
            <a:ext cx="3714750" cy="135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67450"/>
            <a:ext cx="10648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71525" y="6419850"/>
            <a:ext cx="67255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EPILOGUE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10890795" y="6419850"/>
            <a:ext cx="52967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12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2095500" y="1611808"/>
            <a:ext cx="8001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Legacy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286000" y="2577554"/>
            <a:ext cx="7620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Core Themes &amp; Essential Lessons from Chapter 2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2286000" y="5032920"/>
            <a:ext cx="7620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"WORKING TOGETHER, WE CAN WEATHER ANY STORM."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2524125" y="3531840"/>
            <a:ext cx="340042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Courage &amp; Resilience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2524125" y="3813720"/>
            <a:ext cx="3238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Facing mortal danger with quiet discipline. Suzanne silently bore a heavy skull fracture to avoid worrying her parents in crisis.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429375" y="3531840"/>
            <a:ext cx="340042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Power of Optimism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429375" y="3813720"/>
            <a:ext cx="3238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 in the direst stress, maintaining positive conviction guides successful rational choices, finding land against all odds.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7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/>
          <p:nvPr/>
        </p:nvSpPr>
        <p:spPr>
          <a:xfrm>
            <a:off x="771525" y="2592734"/>
            <a:ext cx="10648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771525" y="3377505"/>
            <a:ext cx="10648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771525" y="336798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771525" y="3367980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771525" y="4152751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771525" y="4152751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42158"/>
            <a:ext cx="1152525" cy="48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1866900" y="2735609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https://as2.ftcdn.net/v2/jpg/03/47/61/47/1000_F_347614742_KekGszzjaBYlznqbFtJBHiEJJnAHQ8Qa.jpg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866900" y="2981325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www.posters.pl</a:t>
            </a:r>
            <a:endParaRPr/>
          </a:p>
        </p:txBody>
      </p:sp>
      <p:pic>
        <p:nvPicPr>
          <p:cNvPr id="288" name="Google Shape;28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526928"/>
            <a:ext cx="1352550" cy="48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1866900" y="3520380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https://www.68north.com/content/2020/04/friday-photo-380-storm-1030x686.jpg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866900" y="3766095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www.68north.com</a:t>
            </a:r>
            <a:endParaRPr/>
          </a:p>
        </p:txBody>
      </p:sp>
      <p:pic>
        <p:nvPicPr>
          <p:cNvPr id="291" name="Google Shape;29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31169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1866900" y="4305151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https://www.explore.com/img/gallery/visit-this-remote-european-island-for-thrilling-outdoor-adventures/intro-1700258782.jpg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1866900" y="4550866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www.explore.com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962025" y="581025"/>
            <a:ext cx="10981372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771525" y="581025"/>
            <a:ext cx="38100" cy="434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Widescreen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Arial</vt:lpstr>
      <vt:lpstr>Plus Jakarta Sans</vt:lpstr>
      <vt:lpstr>Playfair Display</vt:lpstr>
      <vt:lpstr>Plus Jakarta Sans Light</vt:lpstr>
      <vt:lpstr>Plus Jakarta Sans SemiBold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intel</cp:lastModifiedBy>
  <cp:revision>1</cp:revision>
  <dcterms:modified xsi:type="dcterms:W3CDTF">2026-06-26T16:05:21Z</dcterms:modified>
</cp:coreProperties>
</file>