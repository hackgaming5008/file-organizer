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3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625"/>
    <a:srgbClr val="38BDF8"/>
    <a:srgbClr val="F96197"/>
    <a:srgbClr val="F43F5E"/>
    <a:srgbClr val="F53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25441" y="2262187"/>
            <a:ext cx="8941117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WE'RE NOT AFRAID TO DIE...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38324" y="3167062"/>
            <a:ext cx="85153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If We Can All Be Together</a:t>
            </a:r>
            <a:endParaRPr sz="3600" dirty="0">
              <a:solidFill>
                <a:srgbClr val="38BDF8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38325" y="4195762"/>
            <a:ext cx="8515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By Gordon Cook and Alan East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59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481262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37-year-old businessman and his family embark on a perilous 105,000 km journey to duplicate Captain James Cook’s round-the-world voyage.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954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349091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Mission: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Honor the legacy of a famous explorer.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8909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Preparation: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16 years spent honing seafaring skills in British waters.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5767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Team: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Gordon Cook, Mary (wife), Jonathan (6), and Suzanne (7).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4909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38909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5767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DREAM OF THE VOYAGE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2675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2675"/>
            <a:ext cx="34861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3910" y="333375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SPECIFICATIONS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76300" y="3876675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23-metre, 30-ton wooden-hulled beauty. Professionally built and tested in the roughest conditions.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575810" y="333375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CREW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8200" y="3876675"/>
            <a:ext cx="28956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Joined at Cape Town: American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Larry Vigil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and Swiss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Herb Seigler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tackle the Indian Ocean.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347710" y="3333750"/>
            <a:ext cx="30403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ROUTE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0100" y="3876675"/>
            <a:ext cx="2895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Starting from Plymouth, England, sailing down the West Coast of Africa toward the Southern Indian Ocean.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695575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4062" y="269557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69557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WAVEWALKER: THE VESSEL</a:t>
            </a:r>
            <a:endParaRPr dirty="0"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581025" y="41290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607790" y="40528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412863" y="40528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375069" y="40528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691295" y="405288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25876" y="4414837"/>
            <a:ext cx="23162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DEPARTURE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4957762"/>
            <a:ext cx="220593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July 1976: Setting sail from Plymouth.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2330949" y="2730326"/>
            <a:ext cx="23162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CAPE TOWN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2330949" y="3187526"/>
            <a:ext cx="231622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Pleasant first leg completed. Crew taken on.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4293156" y="4414837"/>
            <a:ext cx="23162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CHRISTMAS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4348304" y="4957762"/>
            <a:ext cx="220593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3,500km East of Cape Town. Wonderful holiday.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09382" y="2614612"/>
            <a:ext cx="23162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JAN 2 DAWN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6664530" y="3157537"/>
            <a:ext cx="220593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Gales change for the worse. Gigantic waves.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810578" y="654412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JOURNEY</a:t>
            </a:r>
            <a:endParaRPr dirty="0"/>
          </a:p>
        </p:txBody>
      </p:sp>
      <p:sp>
        <p:nvSpPr>
          <p:cNvPr id="142" name="Google Shape;142;p16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2D97BF31-2AFF-2F55-EAF6-B2BDE80606EB}"/>
              </a:ext>
            </a:extLst>
          </p:cNvPr>
          <p:cNvSpPr/>
          <p:nvPr/>
        </p:nvSpPr>
        <p:spPr>
          <a:xfrm>
            <a:off x="10584210" y="4067174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9;p16">
            <a:extLst>
              <a:ext uri="{FF2B5EF4-FFF2-40B4-BE49-F238E27FC236}">
                <a16:creationId xmlns:a16="http://schemas.microsoft.com/office/drawing/2014/main" id="{DD467ECE-0991-257A-73BD-A898279330D2}"/>
              </a:ext>
            </a:extLst>
          </p:cNvPr>
          <p:cNvSpPr txBox="1"/>
          <p:nvPr/>
        </p:nvSpPr>
        <p:spPr>
          <a:xfrm>
            <a:off x="9426097" y="4361117"/>
            <a:ext cx="231622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Ile Amsterdam</a:t>
            </a:r>
            <a:endParaRPr dirty="0"/>
          </a:p>
        </p:txBody>
      </p:sp>
      <p:sp>
        <p:nvSpPr>
          <p:cNvPr id="5" name="Google Shape;140;p16">
            <a:extLst>
              <a:ext uri="{FF2B5EF4-FFF2-40B4-BE49-F238E27FC236}">
                <a16:creationId xmlns:a16="http://schemas.microsoft.com/office/drawing/2014/main" id="{4AD1BE27-51FA-061B-AF56-8ADFF623B930}"/>
              </a:ext>
            </a:extLst>
          </p:cNvPr>
          <p:cNvSpPr txBox="1"/>
          <p:nvPr/>
        </p:nvSpPr>
        <p:spPr>
          <a:xfrm>
            <a:off x="9426097" y="4897263"/>
            <a:ext cx="220593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Final destination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81050" y="633196"/>
            <a:ext cx="4990623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THE GIANT WAVE</a:t>
            </a:r>
            <a:endParaRPr dirty="0">
              <a:solidFill>
                <a:srgbClr val="F43F5E"/>
              </a:solidFill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5525" y="0"/>
            <a:ext cx="60769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2657475"/>
            <a:ext cx="519064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JAN 2, 6:00 PM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3200400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 ominous silence followed by a growing roar. A wave like no other appeared perfectly vertical, twice the height of all others.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4171950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tremendous explosion shook the deck. Green and white water broke over the ship, and the Captain was thrown overboard.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19859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8262" y="2033587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381750" y="2495550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PERSONAL TOLL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381750" y="3038475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Captain accepted his approaching death, feeling peaceful as he lost consciousness. Suddenly, his head popped out of the water.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67500" y="4048125"/>
            <a:ext cx="507626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Left ribs cracked; mouth filled with blood and broken teeth.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444817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Wavewalker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was near capsizing, masts almost horizontal.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484822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Mary screams: "We're sinking! The decks are smashed!"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40481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81750" y="44481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381750" y="48482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581025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SINKING BELOW WAVES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38425"/>
            <a:ext cx="541972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638425"/>
            <a:ext cx="541972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76300" y="2933700"/>
            <a:ext cx="507063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TECHNICAL BATTLE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76300" y="3476625"/>
            <a:ext cx="48291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Larry and Herb pumped like madmen. Hand pumps blocked with debris. Electric pump short-circuited.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76300" y="4162425"/>
            <a:ext cx="48291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Fortunately, an extra electric pump was found under the chartroom floor and connected successfully.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486525" y="2933700"/>
            <a:ext cx="507063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HULL DAMAGE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486525" y="3476625"/>
            <a:ext cx="48291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Gaping holes were covered with canvas and hatch covers. Main rib frames were smashed down to the keel.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486525" y="4162425"/>
            <a:ext cx="48291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auxilliary engine was out of action. Australia was too far; they needed a "pinprick" island.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WATER, WATER EVERYWHERE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1405778" y="2868960"/>
            <a:ext cx="9505950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>
              <a:lnSpc>
                <a:spcPct val="139968"/>
              </a:lnSpc>
            </a:pPr>
            <a:r>
              <a:rPr lang="en-US" sz="3150" b="0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 didn’t want to worry you when you were trying to save us all.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962025" y="4370040"/>
            <a:ext cx="10267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— Suzanne, age 7 (Upon revealing a deep cut on her arm)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4932015"/>
            <a:ext cx="10267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Suzanne had two enormous black eyes and a swollen head, yet she chose silence to give her father strength.</a:t>
            </a:r>
            <a:endParaRPr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1123950" y="2369790"/>
            <a:ext cx="4381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 lang="en-US"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 CHILD'S RESILIENCE</a:t>
            </a:r>
            <a:endParaRPr dirty="0"/>
          </a:p>
        </p:txBody>
      </p:sp>
      <p:sp>
        <p:nvSpPr>
          <p:cNvPr id="196" name="Google Shape;196;p20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2150983"/>
            <a:ext cx="2495550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cap="none" dirty="0">
                <a:solidFill>
                  <a:srgbClr val="F43F5E"/>
                </a:solidFill>
                <a:latin typeface="Lato"/>
                <a:ea typeface="Lato"/>
                <a:cs typeface="Lato"/>
                <a:sym typeface="Lato"/>
              </a:rPr>
              <a:t>JAN 5</a:t>
            </a:r>
            <a:endParaRPr sz="8800"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581025" y="4807029"/>
            <a:ext cx="19621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SITUATION DESPERATE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3848100" y="2962275"/>
            <a:ext cx="81510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JONATHAN'S RESOLUTION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848100" y="3505200"/>
            <a:ext cx="77628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Lato Light"/>
                <a:ea typeface="Lato Light"/>
                <a:cs typeface="Lato Light"/>
                <a:sym typeface="Lato Light"/>
              </a:rPr>
              <a:t>"Daddy, are we going to die? ... We aren't afraid of dying if we can all be together — you and Mummy, Sue and I."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3848100" y="4419600"/>
            <a:ext cx="7762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Captain left the cabin determined to fight the sea with everything he had.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ULTIMATE BRAVERY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>
          <a:blip r:embed="rId4"/>
          <a:srcRect/>
          <a:stretch/>
        </p:blipFill>
        <p:spPr>
          <a:xfrm>
            <a:off x="7091362" y="1985962"/>
            <a:ext cx="3810000" cy="3810000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  <a:softEdge rad="0"/>
          </a:effectLst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37" y="4756197"/>
            <a:ext cx="522922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81025" y="2738437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POSITIONING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1025" y="314325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Calculations using a spare compass and sextant. They were in 150,000 km of ocean looking for a 65 km-wide island.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604837" y="4007644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Sue gave her father a card with caricatures of her parents. "Let's hope for the best," it said.</a:t>
            </a:r>
            <a:endParaRPr dirty="0"/>
          </a:p>
        </p:txBody>
      </p:sp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712" y="4899072"/>
            <a:ext cx="49434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NAVIGATING THE ABYSS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63434-5E7D-2CEB-FC07-9751FF80F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8000"/>
                    </a14:imgEffect>
                  </a14:imgLayer>
                </a14:imgProps>
              </a:ext>
            </a:extLst>
          </a:blip>
          <a:srcRect l="378" t="12780" r="378" b="12780"/>
          <a:stretch>
            <a:fillRect/>
          </a:stretch>
        </p:blipFill>
        <p:spPr>
          <a:xfrm>
            <a:off x="-1" y="-9526"/>
            <a:ext cx="12322629" cy="6916449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B2F799-8CAA-8FCE-7A49-70C0E785ACF0}"/>
              </a:ext>
            </a:extLst>
          </p:cNvPr>
          <p:cNvSpPr/>
          <p:nvPr/>
        </p:nvSpPr>
        <p:spPr>
          <a:xfrm>
            <a:off x="-2" y="-9527"/>
            <a:ext cx="12322629" cy="6916449"/>
          </a:xfrm>
          <a:prstGeom prst="rect">
            <a:avLst/>
          </a:prstGeom>
          <a:solidFill>
            <a:srgbClr val="091625">
              <a:alpha val="6666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Google Shape;229;p23"/>
          <p:cNvSpPr txBox="1"/>
          <p:nvPr/>
        </p:nvSpPr>
        <p:spPr>
          <a:xfrm>
            <a:off x="905351" y="1933575"/>
            <a:ext cx="1038129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"FOUND THE ISLAND!"</a:t>
            </a:r>
            <a:endParaRPr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1152525" y="2790825"/>
            <a:ext cx="9886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Ile Amsterdam: A bleak piece of volcanic rock, yet the most beautiful island in the world.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2786062" y="4200525"/>
            <a:ext cx="6619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"You are the best daddy in the whole world — and the best captain."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3848100"/>
            <a:ext cx="44005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848100"/>
            <a:ext cx="44005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1375409" y="1619250"/>
            <a:ext cx="944118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809750" y="253365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survival of the family was not just a feat of navigation, but a triumph of spirit, optimism, and the unbreakable bond of being together.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895475" y="4143375"/>
            <a:ext cx="4000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Larry &amp; Herb: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Cheerful under the direst stress.</a:t>
            </a:r>
            <a:endParaRPr dirty="0"/>
          </a:p>
        </p:txBody>
      </p:sp>
      <p:sp>
        <p:nvSpPr>
          <p:cNvPr id="242" name="Google Shape;242;p24"/>
          <p:cNvSpPr txBox="1"/>
          <p:nvPr/>
        </p:nvSpPr>
        <p:spPr>
          <a:xfrm>
            <a:off x="1895475" y="454342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Mary: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Held the wheel for crucial hours.</a:t>
            </a:r>
            <a:endParaRPr dirty="0"/>
          </a:p>
        </p:txBody>
      </p:sp>
      <p:sp>
        <p:nvSpPr>
          <p:cNvPr id="243" name="Google Shape;243;p24"/>
          <p:cNvSpPr txBox="1"/>
          <p:nvPr/>
        </p:nvSpPr>
        <p:spPr>
          <a:xfrm>
            <a:off x="6486525" y="414337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Suzanne: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Suffered injuries without a word.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486525" y="454342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Jonathan: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boy who was not afraid to die.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511-06CE-00A6-5A22-603517079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B8A1E-8378-785C-BAB4-E3240196A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oogle Shape;236;p24" descr="image.png">
            <a:extLst>
              <a:ext uri="{FF2B5EF4-FFF2-40B4-BE49-F238E27FC236}">
                <a16:creationId xmlns:a16="http://schemas.microsoft.com/office/drawing/2014/main" id="{519DFBAC-8840-7D9D-0B47-CF9C43F4ED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68353B-1ADC-3837-9017-79357D519DA7}"/>
              </a:ext>
            </a:extLst>
          </p:cNvPr>
          <p:cNvSpPr txBox="1"/>
          <p:nvPr/>
        </p:nvSpPr>
        <p:spPr>
          <a:xfrm>
            <a:off x="949036" y="2640390"/>
            <a:ext cx="10293927" cy="1569660"/>
          </a:xfrm>
          <a:prstGeom prst="rect">
            <a:avLst/>
          </a:prstGeom>
          <a:noFill/>
          <a:ln>
            <a:noFill/>
          </a:ln>
          <a:effectLst>
            <a:glow>
              <a:srgbClr val="38BDF8"/>
            </a:glow>
            <a:reflection blurRad="355600" stA="28000" dir="5400000" sy="-100000" algn="bl" rotWithShape="0"/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38BDF8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019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Widescreen</PresentationFormat>
  <Paragraphs>74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Lato Light</vt:lpstr>
      <vt:lpstr>Calibri</vt:lpstr>
      <vt:lpstr>Arial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intel</cp:lastModifiedBy>
  <cp:revision>1</cp:revision>
  <dcterms:modified xsi:type="dcterms:W3CDTF">2026-06-26T17:05:19Z</dcterms:modified>
</cp:coreProperties>
</file>